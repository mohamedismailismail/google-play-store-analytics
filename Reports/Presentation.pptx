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ricolage Grotesque Bold"/>
      <p:regular r:id="rId201314"/>
    </p:embeddedFont>
    <p:embeddedFont>
      <p:font typeface="Bricolage Grotesque"/>
      <p:regular r:id="rId201315"/>
    </p:embeddedFont>
    <p:embeddedFont>
      <p:font typeface="Bricolage Grotesque SemiBold"/>
      <p:regular r:id="rId201316"/>
    </p:embeddedFont>
    <p:embeddedFont>
      <p:font typeface="Inter SemiBold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  <p:embeddedFont>
      <p:font typeface="Inter Black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.png"/><Relationship Id="rId14" Type="http://schemas.openxmlformats.org/officeDocument/2006/relationships/image" Target="../media/image-4-2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.png"/><Relationship Id="rId18" Type="http://schemas.openxmlformats.org/officeDocument/2006/relationships/image" Target="../media/image-4-2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1.png"/><Relationship Id="rId22" Type="http://schemas.openxmlformats.org/officeDocument/2006/relationships/image" Target="../media/image-4-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1.png"/><Relationship Id="rId26" Type="http://schemas.openxmlformats.org/officeDocument/2006/relationships/image" Target="../media/image-4-2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1.png"/><Relationship Id="rId30" Type="http://schemas.openxmlformats.org/officeDocument/2006/relationships/image" Target="../media/image-4-2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1.png"/><Relationship Id="rId34" Type="http://schemas.openxmlformats.org/officeDocument/2006/relationships/image" Target="../media/image-4-2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1.png"/><Relationship Id="rId38" Type="http://schemas.openxmlformats.org/officeDocument/2006/relationships/image" Target="../media/image-4-2.svg"/><Relationship Id="rId39" Type="http://schemas.openxmlformats.org/officeDocument/2006/relationships/image" Target="../media/image-4-39.png"/><Relationship Id="rId40" Type="http://schemas.openxmlformats.org/officeDocument/2006/relationships/image" Target="../media/image-4-40.svg"/><Relationship Id="rId41" Type="http://schemas.openxmlformats.org/officeDocument/2006/relationships/slideLayout" Target="../slideLayouts/slideLayout2.xml"/><Relationship Id="rId4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25119" y="1751186"/>
            <a:ext cx="2208461" cy="188565"/>
          </a:xfrm>
          <a:prstGeom prst="roundRect">
            <a:avLst>
              <a:gd name="adj" fmla="val 22104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1788393"/>
            <a:ext cx="251683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GRADUATION PROJECT · DATA ANALYTICS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989311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Google Play Store Data Analysis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2813968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Interactive Excel Dashboard Using Python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25119" y="3193852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Nouran Elkafoury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Mohammed Ismail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Mohammed Baker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Omar Samir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4988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25119" y="341114"/>
            <a:ext cx="878235" cy="144214"/>
          </a:xfrm>
          <a:prstGeom prst="roundRect">
            <a:avLst>
              <a:gd name="adj" fmla="val 22128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82045" y="369540"/>
            <a:ext cx="1221581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3925119" y="514350"/>
            <a:ext cx="4722763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What We Set Out to Build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25119" y="920130"/>
            <a:ext cx="4722763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analyzes Google Play Store application data to extract actionable business insights. Python handles data cleaning and preparation, while Microsoft Excel delivers an interactive dashboard with KPIs and visualizations.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404193"/>
            <a:ext cx="189905" cy="1899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25119" y="1684958"/>
            <a:ext cx="472276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Project Objective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925119" y="1876871"/>
            <a:ext cx="472276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structure, and visualize 9,635 Google Play Store apps to reveal trends in ratings, installs, and pricing.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290465"/>
            <a:ext cx="189905" cy="1899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25119" y="2571229"/>
            <a:ext cx="472276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Why This Data Matters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3925119" y="2763143"/>
            <a:ext cx="472276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billions of downloads across thousands of categories, Play Store data reveals real patterns in app performance and user behavior.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176736"/>
            <a:ext cx="189905" cy="18990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25119" y="3457501"/>
            <a:ext cx="472276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3925119" y="3649414"/>
            <a:ext cx="472276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can identify high-performing categories, optimize pricing, and benchmark app quality against market standards.</a:t>
            </a:r>
            <a:endParaRPr lang="en-US" sz="7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63008"/>
            <a:ext cx="189905" cy="18990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925119" y="4343772"/>
            <a:ext cx="472276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3925119" y="4535686"/>
            <a:ext cx="472276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polished interactive dashboard, clean dataset, and data-driven insights ready for strategic decision-making.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0210"/>
            <a:ext cx="868933" cy="176585"/>
          </a:xfrm>
          <a:prstGeom prst="roundRect">
            <a:avLst>
              <a:gd name="adj" fmla="val 22128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65845" y="405036"/>
            <a:ext cx="1186681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90401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End-to-End Project Workflow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117253"/>
            <a:ext cx="8608963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sequential stages transform raw data into interactive visual intelligence — each step builds on the last to ensure accuracy and clarity.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0118"/>
            <a:ext cx="4075881" cy="465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353" y="1994297"/>
            <a:ext cx="3843412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Raw Dataset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2353" y="2241352"/>
            <a:ext cx="384341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Play Store source data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20118"/>
            <a:ext cx="4075881" cy="465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88235" y="1994297"/>
            <a:ext cx="3843412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Python Cleaning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688235" y="2241352"/>
            <a:ext cx="384341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missing values and duplicates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37817"/>
            <a:ext cx="4075881" cy="465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353" y="3111996"/>
            <a:ext cx="3843412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12353" y="3359051"/>
            <a:ext cx="384341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 and convert data types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37817"/>
            <a:ext cx="4075881" cy="4651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88235" y="3111996"/>
            <a:ext cx="3843412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Excel Pivot Tables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688235" y="3359051"/>
            <a:ext cx="384341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and summarize data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655516"/>
            <a:ext cx="4075881" cy="4651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2353" y="4229695"/>
            <a:ext cx="3843412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Interactive Dashboard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12353" y="4476750"/>
            <a:ext cx="384341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Charts, filters, and KPI cards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55516"/>
            <a:ext cx="4075881" cy="46516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88235" y="4229695"/>
            <a:ext cx="3843412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Business Insights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4688235" y="4476750"/>
            <a:ext cx="384341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findings and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4016"/>
            <a:ext cx="200471" cy="94283"/>
          </a:xfrm>
          <a:prstGeom prst="roundRect">
            <a:avLst>
              <a:gd name="adj" fmla="val 22103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3326" y="362620"/>
            <a:ext cx="583257" cy="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350" dirty="0"/>
          </a:p>
        </p:txBody>
      </p:sp>
      <p:sp>
        <p:nvSpPr>
          <p:cNvPr id="4" name="Text 2"/>
          <p:cNvSpPr/>
          <p:nvPr/>
        </p:nvSpPr>
        <p:spPr>
          <a:xfrm>
            <a:off x="496119" y="450652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691009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captures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9,635 Google Play Store applications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ten attributes — covering performance metrics, metadata, and user engagement signals.</a:t>
            </a:r>
            <a:endParaRPr lang="en-US" sz="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800174"/>
            <a:ext cx="8151763" cy="37207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727" y="939701"/>
            <a:ext cx="93018" cy="930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4622" y="871686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App Name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784622" y="987177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application title</a:t>
            </a:r>
            <a:endParaRPr lang="en-US" sz="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203201"/>
            <a:ext cx="8151763" cy="37207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0727" y="1342727"/>
            <a:ext cx="93018" cy="930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84622" y="1274713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Category</a:t>
            </a:r>
            <a:endParaRPr lang="en-US" sz="600" dirty="0"/>
          </a:p>
        </p:txBody>
      </p:sp>
      <p:sp>
        <p:nvSpPr>
          <p:cNvPr id="13" name="Text 7"/>
          <p:cNvSpPr/>
          <p:nvPr/>
        </p:nvSpPr>
        <p:spPr>
          <a:xfrm>
            <a:off x="784622" y="1390204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classification (e.g., Games, Productivity)</a:t>
            </a:r>
            <a:endParaRPr lang="en-US" sz="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1606228"/>
            <a:ext cx="8151763" cy="37207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0727" y="1745754"/>
            <a:ext cx="93018" cy="9301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84622" y="1677739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Rating</a:t>
            </a:r>
            <a:endParaRPr lang="en-US" sz="600" dirty="0"/>
          </a:p>
        </p:txBody>
      </p:sp>
      <p:sp>
        <p:nvSpPr>
          <p:cNvPr id="17" name="Text 9"/>
          <p:cNvSpPr/>
          <p:nvPr/>
        </p:nvSpPr>
        <p:spPr>
          <a:xfrm>
            <a:off x="784622" y="1793230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score from 1.0 to 5.0</a:t>
            </a:r>
            <a:endParaRPr lang="en-US" sz="4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2009254"/>
            <a:ext cx="8151763" cy="37207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0727" y="2148780"/>
            <a:ext cx="93018" cy="9301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84622" y="2080766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Reviews</a:t>
            </a:r>
            <a:endParaRPr lang="en-US" sz="600" dirty="0"/>
          </a:p>
        </p:txBody>
      </p:sp>
      <p:sp>
        <p:nvSpPr>
          <p:cNvPr id="21" name="Text 11"/>
          <p:cNvSpPr/>
          <p:nvPr/>
        </p:nvSpPr>
        <p:spPr>
          <a:xfrm>
            <a:off x="784622" y="2196257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user reviews submitted</a:t>
            </a:r>
            <a:endParaRPr lang="en-US" sz="4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6119" y="2412281"/>
            <a:ext cx="8151763" cy="372070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0727" y="2551807"/>
            <a:ext cx="93018" cy="9301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84622" y="2483793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Installs</a:t>
            </a:r>
            <a:endParaRPr lang="en-US" sz="600" dirty="0"/>
          </a:p>
        </p:txBody>
      </p:sp>
      <p:sp>
        <p:nvSpPr>
          <p:cNvPr id="25" name="Text 13"/>
          <p:cNvSpPr/>
          <p:nvPr/>
        </p:nvSpPr>
        <p:spPr>
          <a:xfrm>
            <a:off x="784622" y="2599283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Cumulative download count</a:t>
            </a:r>
            <a:endParaRPr lang="en-US" sz="4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96119" y="2815307"/>
            <a:ext cx="8151763" cy="37207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0727" y="2954834"/>
            <a:ext cx="93018" cy="9301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784622" y="2886819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Price</a:t>
            </a:r>
            <a:endParaRPr lang="en-US" sz="600" dirty="0"/>
          </a:p>
        </p:txBody>
      </p:sp>
      <p:sp>
        <p:nvSpPr>
          <p:cNvPr id="29" name="Text 15"/>
          <p:cNvSpPr/>
          <p:nvPr/>
        </p:nvSpPr>
        <p:spPr>
          <a:xfrm>
            <a:off x="784622" y="3002310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Listed cost in USD</a:t>
            </a:r>
            <a:endParaRPr lang="en-US" sz="45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96119" y="3218334"/>
            <a:ext cx="8151763" cy="372070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80727" y="3357860"/>
            <a:ext cx="93018" cy="93018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784622" y="3289846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Content Rating</a:t>
            </a:r>
            <a:endParaRPr lang="en-US" sz="600" dirty="0"/>
          </a:p>
        </p:txBody>
      </p:sp>
      <p:sp>
        <p:nvSpPr>
          <p:cNvPr id="33" name="Text 17"/>
          <p:cNvSpPr/>
          <p:nvPr/>
        </p:nvSpPr>
        <p:spPr>
          <a:xfrm>
            <a:off x="784622" y="3405336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appropriateness classification</a:t>
            </a:r>
            <a:endParaRPr lang="en-US" sz="450" dirty="0"/>
          </a:p>
        </p:txBody>
      </p:sp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6119" y="3621360"/>
            <a:ext cx="8151763" cy="372070"/>
          </a:xfrm>
          <a:prstGeom prst="rect">
            <a:avLst/>
          </a:prstGeom>
        </p:spPr>
      </p:pic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80727" y="3760887"/>
            <a:ext cx="93018" cy="93018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784622" y="3692872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Android Version</a:t>
            </a:r>
            <a:endParaRPr lang="en-US" sz="600" dirty="0"/>
          </a:p>
        </p:txBody>
      </p:sp>
      <p:sp>
        <p:nvSpPr>
          <p:cNvPr id="37" name="Text 19"/>
          <p:cNvSpPr/>
          <p:nvPr/>
        </p:nvSpPr>
        <p:spPr>
          <a:xfrm>
            <a:off x="784622" y="3808363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OS requirement</a:t>
            </a:r>
            <a:endParaRPr lang="en-US" sz="450" dirty="0"/>
          </a:p>
        </p:txBody>
      </p:sp>
      <p:pic>
        <p:nvPicPr>
          <p:cNvPr id="3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96119" y="4024387"/>
            <a:ext cx="8151763" cy="372070"/>
          </a:xfrm>
          <a:prstGeom prst="rect">
            <a:avLst/>
          </a:prstGeom>
        </p:spPr>
      </p:pic>
      <p:pic>
        <p:nvPicPr>
          <p:cNvPr id="39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80727" y="4163913"/>
            <a:ext cx="93018" cy="93018"/>
          </a:xfrm>
          <a:prstGeom prst="rect">
            <a:avLst/>
          </a:prstGeom>
        </p:spPr>
      </p:pic>
      <p:sp>
        <p:nvSpPr>
          <p:cNvPr id="40" name="Text 20"/>
          <p:cNvSpPr/>
          <p:nvPr/>
        </p:nvSpPr>
        <p:spPr>
          <a:xfrm>
            <a:off x="784622" y="4095899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Size</a:t>
            </a:r>
            <a:endParaRPr lang="en-US" sz="600" dirty="0"/>
          </a:p>
        </p:txBody>
      </p:sp>
      <p:sp>
        <p:nvSpPr>
          <p:cNvPr id="41" name="Text 21"/>
          <p:cNvSpPr/>
          <p:nvPr/>
        </p:nvSpPr>
        <p:spPr>
          <a:xfrm>
            <a:off x="784622" y="4211389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file size in MB</a:t>
            </a:r>
            <a:endParaRPr lang="en-US" sz="450" dirty="0"/>
          </a:p>
        </p:txBody>
      </p:sp>
      <p:pic>
        <p:nvPicPr>
          <p:cNvPr id="42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96119" y="4427413"/>
            <a:ext cx="8151763" cy="372070"/>
          </a:xfrm>
          <a:prstGeom prst="rect">
            <a:avLst/>
          </a:prstGeom>
        </p:spPr>
      </p:pic>
      <p:pic>
        <p:nvPicPr>
          <p:cNvPr id="43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0727" y="4566940"/>
            <a:ext cx="93018" cy="93018"/>
          </a:xfrm>
          <a:prstGeom prst="rect">
            <a:avLst/>
          </a:prstGeom>
        </p:spPr>
      </p:pic>
      <p:sp>
        <p:nvSpPr>
          <p:cNvPr id="44" name="Text 22"/>
          <p:cNvSpPr/>
          <p:nvPr/>
        </p:nvSpPr>
        <p:spPr>
          <a:xfrm>
            <a:off x="784622" y="4498925"/>
            <a:ext cx="779174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Last Update</a:t>
            </a:r>
            <a:endParaRPr lang="en-US" sz="600" dirty="0"/>
          </a:p>
        </p:txBody>
      </p:sp>
      <p:sp>
        <p:nvSpPr>
          <p:cNvPr id="45" name="Text 23"/>
          <p:cNvSpPr/>
          <p:nvPr/>
        </p:nvSpPr>
        <p:spPr>
          <a:xfrm>
            <a:off x="784622" y="4614416"/>
            <a:ext cx="779174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recent version release date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25119" y="373261"/>
            <a:ext cx="976982" cy="167878"/>
          </a:xfrm>
          <a:prstGeom prst="roundRect">
            <a:avLst>
              <a:gd name="adj" fmla="val 22112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3991347" y="406375"/>
            <a:ext cx="1301725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ENGINEERING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925119" y="580430"/>
            <a:ext cx="4722763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Python Cleaning &amp; Database Design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3845570" y="1418555"/>
            <a:ext cx="2285851" cy="3351609"/>
          </a:xfrm>
          <a:prstGeom prst="roundRect">
            <a:avLst>
              <a:gd name="adj" fmla="val 3480"/>
            </a:avLst>
          </a:prstGeom>
          <a:solidFill>
            <a:srgbClr val="E7BF6A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56000" y="1516931"/>
            <a:ext cx="2064990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Python Data Cleaning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56000" y="1787947"/>
            <a:ext cx="2064990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transforms the raw dataset into a reliable, analysis-ready foundation.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956000" y="2210767"/>
            <a:ext cx="2064990" cy="144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Values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Null entries identified and handled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 Records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Redundant rows detected and removed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Formatting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Standardized text, dates, and numeric fields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Type Conversion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Ensured correct types for analysis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326163" y="1516931"/>
            <a:ext cx="2326407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Relational Database Design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26163" y="1787947"/>
            <a:ext cx="2326407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normalized entities form the logical data model.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326163" y="2232868"/>
            <a:ext cx="2326407" cy="854720"/>
          </a:xfrm>
          <a:prstGeom prst="roundRect">
            <a:avLst>
              <a:gd name="adj" fmla="val 542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50881" y="2357586"/>
            <a:ext cx="2076971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APP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50881" y="2628602"/>
            <a:ext cx="2076971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Name, Rating, Reviews, Installs, Price, Size, Last Update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26163" y="3185964"/>
            <a:ext cx="2326407" cy="687586"/>
          </a:xfrm>
          <a:prstGeom prst="roundRect">
            <a:avLst>
              <a:gd name="adj" fmla="val 674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0881" y="3310682"/>
            <a:ext cx="2076971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CATEGORY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50881" y="3581698"/>
            <a:ext cx="2076971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Name, Description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326163" y="3971925"/>
            <a:ext cx="2326407" cy="687586"/>
          </a:xfrm>
          <a:prstGeom prst="roundRect">
            <a:avLst>
              <a:gd name="adj" fmla="val 674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F8ECD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50881" y="4096643"/>
            <a:ext cx="2076971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GENRE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50881" y="4367659"/>
            <a:ext cx="2076971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Genre Name, Sub-genre Classification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25119" y="371177"/>
            <a:ext cx="572691" cy="141387"/>
          </a:xfrm>
          <a:prstGeom prst="roundRect">
            <a:avLst>
              <a:gd name="adj" fmla="val 22109"/>
            </a:avLst>
          </a:prstGeom>
          <a:solidFill>
            <a:srgbClr val="F8ECD3"/>
          </a:solidFill>
          <a:ln/>
        </p:spPr>
      </p:sp>
      <p:sp>
        <p:nvSpPr>
          <p:cNvPr id="4" name="Text 1"/>
          <p:cNvSpPr/>
          <p:nvPr/>
        </p:nvSpPr>
        <p:spPr>
          <a:xfrm>
            <a:off x="3980929" y="399083"/>
            <a:ext cx="918270" cy="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3925119" y="540469"/>
            <a:ext cx="4722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Interactive Excel Dashboard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925119" y="935831"/>
            <a:ext cx="4722763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Excel dashboard combines </a:t>
            </a:r>
            <a:pPr algn="l" indent="0" marL="0">
              <a:lnSpc>
                <a:spcPct val="117000"/>
              </a:lnSpc>
              <a:buNone/>
            </a:pPr>
            <a:r>
              <a:rPr lang="en-US" sz="70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KPI cards, Pivot Charts, and interactive slicers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into a single navigable interface — enabling stakeholders to explore the data dynamically.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925119" y="1321222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9,635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925119" y="1727076"/>
            <a:ext cx="4722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Total Apps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925119" y="1914227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analyzed across all categories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925119" y="2230487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4.2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925119" y="2636341"/>
            <a:ext cx="4722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Average Rating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25119" y="2823493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user rating across the full dataset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25119" y="3139753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75.1B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925119" y="3545607"/>
            <a:ext cx="4722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Total Installs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925119" y="3732758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downloads across all applications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925119" y="4049018"/>
            <a:ext cx="4722763" cy="307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$10,577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925119" y="4454872"/>
            <a:ext cx="4722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Total Price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925119" y="4642024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 of all paid application prices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4760"/>
            <a:ext cx="564877" cy="167878"/>
          </a:xfrm>
          <a:prstGeom prst="roundRect">
            <a:avLst>
              <a:gd name="adj" fmla="val 22112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2347" y="377875"/>
            <a:ext cx="889620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51929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Dashboard Analysis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96119" y="1044773"/>
            <a:ext cx="86089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analytical views reveal the distribution and behavior of apps across the Google Play Store.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2561"/>
            <a:ext cx="1128489" cy="6974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142902"/>
            <a:ext cx="194570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Top Categories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6119" y="2374553"/>
            <a:ext cx="1945704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Games, Tools, and Productivity dominate app volume and downloads.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755" y="1322561"/>
            <a:ext cx="1128489" cy="6974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4755" y="2142902"/>
            <a:ext cx="1945779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Paid vs. Free Apps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564755" y="2374553"/>
            <a:ext cx="1945779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vast majority of apps are free, with paid apps representing a small but high-value segment.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66" y="1322561"/>
            <a:ext cx="1128489" cy="6974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33466" y="2142902"/>
            <a:ext cx="1945704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Applications Updated Over Time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633466" y="2547193"/>
            <a:ext cx="1945704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activity reflects developer engagement and commitment to app quality.</a:t>
            </a:r>
            <a:endParaRPr lang="en-US" sz="8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103" y="1322561"/>
            <a:ext cx="1128489" cy="6974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02103" y="2142902"/>
            <a:ext cx="1945779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Content Rating Distribution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702103" y="2374553"/>
            <a:ext cx="1945779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apps target a general audience, with "Everyone" as the dominant rating.</a:t>
            </a:r>
            <a:endParaRPr lang="en-US" sz="8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245346"/>
            <a:ext cx="1128489" cy="69740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6119" y="4065687"/>
            <a:ext cx="194570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Install Distribution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496119" y="4297338"/>
            <a:ext cx="1945704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number of high-performing apps account for the majority of total installs.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65125"/>
            <a:ext cx="615925" cy="188565"/>
          </a:xfrm>
          <a:prstGeom prst="roundRect">
            <a:avLst>
              <a:gd name="adj" fmla="val 22104"/>
            </a:avLst>
          </a:prstGeom>
          <a:solidFill>
            <a:srgbClr val="F8ECD3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802332"/>
            <a:ext cx="92429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0325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Business Insights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76834"/>
            <a:ext cx="2634555" cy="13387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530" y="1715095"/>
            <a:ext cx="2300883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🆓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Free Apps Dominate the Market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1530" y="2181969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overwhelming majority of apps are free — freemium and ad-supported models are the default strategy.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1576834"/>
            <a:ext cx="2634630" cy="13387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0059" y="1715095"/>
            <a:ext cx="2300957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Higher Ratings Drive More Installs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50059" y="2181969"/>
            <a:ext cx="23009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 with stronger ratings consistently attract more downloads, making quality a direct growth lever.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1576834"/>
            <a:ext cx="2634555" cy="13387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8663" y="1715095"/>
            <a:ext cx="2300883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📂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Popular Categories Concentrate Downloads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208663" y="2181969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Games, Tools, and Entertainment capture the largest share of total installs across the store.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39591"/>
            <a:ext cx="2634555" cy="13387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1530" y="3177853"/>
            <a:ext cx="2300883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Regular Updates Signal Quality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91530" y="3644726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Frequently updated apps tend to maintain higher ratings and stronger user retention over time.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4648" y="3039591"/>
            <a:ext cx="2634630" cy="133878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450059" y="3177853"/>
            <a:ext cx="2300957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Dashboards Simplify Decision-Making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3450059" y="3644726"/>
            <a:ext cx="23009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visualizations enable stakeholders to explore data and act on insights without technical expertise.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6755"/>
            <a:ext cx="760288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623962"/>
            <a:ext cx="106866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2488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Challenges &amp;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398463"/>
            <a:ext cx="4103191" cy="3158282"/>
          </a:xfrm>
          <a:prstGeom prst="roundRect">
            <a:avLst>
              <a:gd name="adj" fmla="val 2828"/>
            </a:avLst>
          </a:prstGeom>
          <a:solidFill>
            <a:srgbClr val="E7BF6A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522437"/>
            <a:ext cx="385524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Challenges Encountered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796" y="186057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7BF6A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3822" y="1903214"/>
            <a:ext cx="14470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3822" y="2221037"/>
            <a:ext cx="144705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 entries required careful handling to preserve dataset integrity.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5882" y="186057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7BF6A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8909" y="1903214"/>
            <a:ext cx="14471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Duplicate Records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38909" y="2221037"/>
            <a:ext cx="144713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and removing redundant rows was essential for accuracy.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796" y="326290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7BF6A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822" y="3305547"/>
            <a:ext cx="14470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Data Formatting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3822" y="3623370"/>
            <a:ext cx="144705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text, numeric, and date formats required standardization.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35882" y="326290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7BF6A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8909" y="3305547"/>
            <a:ext cx="14471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38909" y="3623370"/>
            <a:ext cx="144713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Balancing visual clarity with analytical depth required iterative refinement.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28046" y="1522437"/>
            <a:ext cx="392459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Key Conclusions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4555" y="1864370"/>
            <a:ext cx="186035" cy="18603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31073" y="1860575"/>
            <a:ext cx="14817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Python Prepared the Dataset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31073" y="2372246"/>
            <a:ext cx="14817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Python's cleaning pipeline transformed raw data into a reliable, analysis-ready foundation.</a:t>
            </a:r>
            <a:endParaRPr lang="en-US" sz="9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4319" y="1864370"/>
            <a:ext cx="186035" cy="18603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70837" y="1860575"/>
            <a:ext cx="148180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Excel Delivered the Dashboard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170837" y="2372246"/>
            <a:ext cx="148180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 Tables, Charts, and Slicers created a fully interactive business intelligence interface.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4555" y="3616375"/>
            <a:ext cx="186035" cy="18603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131073" y="3612579"/>
            <a:ext cx="35215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Meaningful Insights Were Generated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131073" y="3930402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surfaces actionable findings on ratings, installs, pricing, and category trends.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7098"/>
            <a:ext cx="8151763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Thank You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496119" y="1788021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Questions?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198861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2C2926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38363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appreciate your time and attention. We welcome your questions and feedback.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721620"/>
            <a:ext cx="4013895" cy="451321"/>
          </a:xfrm>
          <a:prstGeom prst="roundRect">
            <a:avLst>
              <a:gd name="adj" fmla="val 11544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4855" y="2850356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Nouran Elkafoury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33987" y="2721620"/>
            <a:ext cx="4013895" cy="451321"/>
          </a:xfrm>
          <a:prstGeom prst="roundRect">
            <a:avLst>
              <a:gd name="adj" fmla="val 11544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723" y="2850356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Mohammed Ismail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6119" y="3296915"/>
            <a:ext cx="4013895" cy="451321"/>
          </a:xfrm>
          <a:prstGeom prst="roundRect">
            <a:avLst>
              <a:gd name="adj" fmla="val 11544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855" y="3425651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Mohammed Baker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33987" y="3296915"/>
            <a:ext cx="4013895" cy="451321"/>
          </a:xfrm>
          <a:prstGeom prst="roundRect">
            <a:avLst>
              <a:gd name="adj" fmla="val 11544"/>
            </a:avLst>
          </a:prstGeom>
          <a:solidFill>
            <a:srgbClr val="FFFFFF"/>
          </a:solidFill>
          <a:ln w="4763">
            <a:solidFill>
              <a:srgbClr val="F8EC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723" y="3425651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Omar Samir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6119" y="3887763"/>
            <a:ext cx="1985144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0533" y="3924970"/>
            <a:ext cx="229351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PLAY STORE DATA ANALYSIS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43249" y="3887763"/>
            <a:ext cx="2566615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E7BF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7663" y="3924970"/>
            <a:ext cx="287498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E7BF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EXCEL DASHBOARD USING PYTHON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2026-07-30T20:01:27Z</dcterms:created>
  <dcterms:modified xsi:type="dcterms:W3CDTF">2026-07-30T20:01:27Z</dcterms:modified>
</cp:coreProperties>
</file>